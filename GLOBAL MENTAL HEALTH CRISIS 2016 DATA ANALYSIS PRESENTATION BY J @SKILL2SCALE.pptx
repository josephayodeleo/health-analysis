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5/7/2026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GLOBAL MENTAL HEALTH CRISIS 2016</a:t>
            </a:r>
            <a:endParaRPr lang="en-US" dirty="0"/>
          </a:p>
        </p:txBody>
      </p:sp>
      <p:sp>
        <p:nvSpPr>
          <p:cNvPr id="3" name="Subtitle 2"/>
          <p:cNvSpPr>
            <a:spLocks noGrp="1"/>
          </p:cNvSpPr>
          <p:nvPr>
            <p:ph type="subTitle" idx="1"/>
          </p:nvPr>
        </p:nvSpPr>
        <p:spPr/>
        <p:txBody>
          <a:bodyPr>
            <a:normAutofit lnSpcReduction="10000"/>
          </a:bodyPr>
          <a:lstStyle/>
          <a:p>
            <a:r>
              <a:rPr lang="en-US" dirty="0" smtClean="0"/>
              <a:t>SUCIDE RATES, FACILITIES, HUMAN RESOURCES DATA ANALYSIS PRESETATION </a:t>
            </a:r>
          </a:p>
          <a:p>
            <a:pPr algn="ctr"/>
            <a:r>
              <a:rPr lang="en-US" dirty="0" smtClean="0"/>
              <a:t>BY </a:t>
            </a:r>
          </a:p>
          <a:p>
            <a:pPr algn="ctr"/>
            <a:r>
              <a:rPr lang="en-US" dirty="0" smtClean="0"/>
              <a:t>AYODELE JOSEPH OLUWATIMILEHIN</a:t>
            </a:r>
            <a:endParaRPr lang="en-US" dirty="0"/>
          </a:p>
        </p:txBody>
      </p:sp>
    </p:spTree>
    <p:extLst>
      <p:ext uri="{BB962C8B-B14F-4D97-AF65-F5344CB8AC3E}">
        <p14:creationId xmlns:p14="http://schemas.microsoft.com/office/powerpoint/2010/main" val="378353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EXECUTIVE SUMMARY</a:t>
            </a:r>
            <a:endParaRPr lang="en-US" dirty="0"/>
          </a:p>
        </p:txBody>
      </p:sp>
      <p:sp>
        <p:nvSpPr>
          <p:cNvPr id="3" name="Content Placeholder 2"/>
          <p:cNvSpPr>
            <a:spLocks noGrp="1"/>
          </p:cNvSpPr>
          <p:nvPr>
            <p:ph idx="1"/>
          </p:nvPr>
        </p:nvSpPr>
        <p:spPr/>
        <p:txBody>
          <a:bodyPr/>
          <a:lstStyle/>
          <a:p>
            <a:r>
              <a:rPr lang="en-US" dirty="0"/>
              <a:t>This comprehensive analysis examines global suicide rates, mental health infrastructure, and human resources across 183 countries using WHO data from 2016. The dashboard reveals critical disparities in suicide rates between nations and highlights the correlation between mental health resource availability and population vulnerability</a:t>
            </a:r>
            <a:r>
              <a:rPr lang="en-US" dirty="0" smtClean="0"/>
              <a:t>.</a:t>
            </a:r>
          </a:p>
          <a:p>
            <a:r>
              <a:rPr lang="en-US" dirty="0" smtClean="0"/>
              <a:t> </a:t>
            </a:r>
            <a:r>
              <a:rPr lang="en-US" dirty="0"/>
              <a:t>Key </a:t>
            </a:r>
            <a:r>
              <a:rPr lang="en-US" dirty="0" smtClean="0"/>
              <a:t>Metrics Countries </a:t>
            </a:r>
            <a:r>
              <a:rPr lang="en-US" dirty="0"/>
              <a:t>Analyzed: 183 Average Global Suicide Rate: 11.5 per 100,000 </a:t>
            </a:r>
            <a:r>
              <a:rPr lang="en-US" dirty="0" err="1" smtClean="0"/>
              <a:t>HighestRate</a:t>
            </a:r>
            <a:r>
              <a:rPr lang="en-US" dirty="0"/>
              <a:t>: 30.2 </a:t>
            </a:r>
            <a:r>
              <a:rPr lang="en-US" dirty="0" smtClean="0"/>
              <a:t>per </a:t>
            </a:r>
            <a:r>
              <a:rPr lang="en-US" dirty="0"/>
              <a:t>100,000 (Guyana) Lowest Rate: 1.6 per 100,000 (Bahrain</a:t>
            </a:r>
            <a:r>
              <a:rPr lang="en-US" dirty="0" smtClean="0"/>
              <a:t>)</a:t>
            </a:r>
          </a:p>
          <a:p>
            <a:endParaRPr lang="en-US" dirty="0"/>
          </a:p>
        </p:txBody>
      </p:sp>
    </p:spTree>
    <p:extLst>
      <p:ext uri="{BB962C8B-B14F-4D97-AF65-F5344CB8AC3E}">
        <p14:creationId xmlns:p14="http://schemas.microsoft.com/office/powerpoint/2010/main" val="2633603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096206" cy="6858000"/>
          </a:xfrm>
          <a:prstGeom prst="rect">
            <a:avLst/>
          </a:prstGeom>
        </p:spPr>
      </p:pic>
    </p:spTree>
    <p:extLst>
      <p:ext uri="{BB962C8B-B14F-4D97-AF65-F5344CB8AC3E}">
        <p14:creationId xmlns:p14="http://schemas.microsoft.com/office/powerpoint/2010/main" val="1678997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FINDINGS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smtClean="0"/>
              <a:t>1. Age </a:t>
            </a:r>
            <a:r>
              <a:rPr lang="en-US" b="1" dirty="0"/>
              <a:t>Group </a:t>
            </a:r>
            <a:r>
              <a:rPr lang="en-US" b="1" dirty="0" smtClean="0"/>
              <a:t>Vulnerability</a:t>
            </a:r>
          </a:p>
          <a:p>
            <a:pPr marL="0" indent="0">
              <a:buNone/>
            </a:pPr>
            <a:r>
              <a:rPr lang="en-US" dirty="0" smtClean="0"/>
              <a:t>Suicide </a:t>
            </a:r>
            <a:r>
              <a:rPr lang="en-US" dirty="0"/>
              <a:t>rates vary dramatically across age groups, with elderly populations showing significantly higher </a:t>
            </a:r>
            <a:r>
              <a:rPr lang="en-US" dirty="0" smtClean="0"/>
              <a:t>vulnerability:</a:t>
            </a:r>
          </a:p>
          <a:p>
            <a:r>
              <a:rPr lang="en-US" dirty="0" smtClean="0"/>
              <a:t>10-19 </a:t>
            </a:r>
            <a:r>
              <a:rPr lang="en-US" dirty="0"/>
              <a:t>years: 3.5 per </a:t>
            </a:r>
            <a:r>
              <a:rPr lang="en-US" dirty="0" smtClean="0"/>
              <a:t>100,000</a:t>
            </a:r>
          </a:p>
          <a:p>
            <a:r>
              <a:rPr lang="en-US" dirty="0" smtClean="0"/>
              <a:t>20-29 </a:t>
            </a:r>
            <a:r>
              <a:rPr lang="en-US" dirty="0"/>
              <a:t>years: 10.2 per 100,000 (peak for younger </a:t>
            </a:r>
            <a:r>
              <a:rPr lang="en-US" dirty="0" smtClean="0"/>
              <a:t>adults)</a:t>
            </a:r>
          </a:p>
          <a:p>
            <a:r>
              <a:rPr lang="en-US" dirty="0" smtClean="0"/>
              <a:t>40-49 </a:t>
            </a:r>
            <a:r>
              <a:rPr lang="en-US" dirty="0"/>
              <a:t>years: 6.6 per </a:t>
            </a:r>
            <a:r>
              <a:rPr lang="en-US" dirty="0" smtClean="0"/>
              <a:t>100,000</a:t>
            </a:r>
          </a:p>
          <a:p>
            <a:r>
              <a:rPr lang="en-US" dirty="0" smtClean="0"/>
              <a:t>70-79 </a:t>
            </a:r>
            <a:r>
              <a:rPr lang="en-US" dirty="0"/>
              <a:t>years: 11.0 per </a:t>
            </a:r>
            <a:r>
              <a:rPr lang="en-US" dirty="0" smtClean="0"/>
              <a:t>100,000</a:t>
            </a:r>
          </a:p>
          <a:p>
            <a:r>
              <a:rPr lang="en-US" dirty="0" smtClean="0"/>
              <a:t>80</a:t>
            </a:r>
            <a:r>
              <a:rPr lang="en-US" dirty="0"/>
              <a:t>+ years: 42.0 per 100,000 (highest risk </a:t>
            </a:r>
            <a:r>
              <a:rPr lang="en-US" dirty="0" smtClean="0"/>
              <a:t>group)</a:t>
            </a:r>
          </a:p>
          <a:p>
            <a:r>
              <a:rPr lang="en-US" dirty="0" smtClean="0"/>
              <a:t>The </a:t>
            </a:r>
            <a:r>
              <a:rPr lang="en-US" dirty="0"/>
              <a:t>dramatic increase in the 80+ age group indicates that elderly populations require specialized mental health interventions and support systems.</a:t>
            </a:r>
          </a:p>
        </p:txBody>
      </p:sp>
    </p:spTree>
    <p:extLst>
      <p:ext uri="{BB962C8B-B14F-4D97-AF65-F5344CB8AC3E}">
        <p14:creationId xmlns:p14="http://schemas.microsoft.com/office/powerpoint/2010/main" val="14932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FINDINGS</a:t>
            </a:r>
          </a:p>
        </p:txBody>
      </p:sp>
      <p:sp>
        <p:nvSpPr>
          <p:cNvPr id="3" name="Content Placeholder 2"/>
          <p:cNvSpPr>
            <a:spLocks noGrp="1"/>
          </p:cNvSpPr>
          <p:nvPr>
            <p:ph idx="1"/>
          </p:nvPr>
        </p:nvSpPr>
        <p:spPr/>
        <p:txBody>
          <a:bodyPr/>
          <a:lstStyle/>
          <a:p>
            <a:pPr marL="0" indent="0">
              <a:buNone/>
            </a:pPr>
            <a:r>
              <a:rPr lang="en-US" b="1" dirty="0"/>
              <a:t>2. Gender </a:t>
            </a:r>
            <a:r>
              <a:rPr lang="en-US" b="1" dirty="0" smtClean="0"/>
              <a:t>Disparities</a:t>
            </a:r>
          </a:p>
          <a:p>
            <a:pPr marL="0" indent="0">
              <a:buNone/>
            </a:pPr>
            <a:r>
              <a:rPr lang="en-US" dirty="0" smtClean="0"/>
              <a:t>Males </a:t>
            </a:r>
            <a:r>
              <a:rPr lang="en-US" dirty="0"/>
              <a:t>consistently show higher suicide rates than females across all analyzed countries: </a:t>
            </a:r>
            <a:endParaRPr lang="en-US" dirty="0" smtClean="0"/>
          </a:p>
          <a:p>
            <a:r>
              <a:rPr lang="en-US" dirty="0" smtClean="0"/>
              <a:t>Male-to-Female </a:t>
            </a:r>
            <a:r>
              <a:rPr lang="en-US" dirty="0"/>
              <a:t>Ratio: Typically 2:1 to </a:t>
            </a:r>
            <a:r>
              <a:rPr lang="en-US" dirty="0" smtClean="0"/>
              <a:t>4:1</a:t>
            </a:r>
          </a:p>
          <a:p>
            <a:r>
              <a:rPr lang="en-US" dirty="0" smtClean="0"/>
              <a:t>Example </a:t>
            </a:r>
            <a:r>
              <a:rPr lang="en-US" dirty="0"/>
              <a:t>- Austria: Males 24.2 vs Females 7.6 per </a:t>
            </a:r>
            <a:r>
              <a:rPr lang="en-US" dirty="0" smtClean="0"/>
              <a:t>100,000</a:t>
            </a:r>
          </a:p>
          <a:p>
            <a:r>
              <a:rPr lang="en-US" dirty="0" smtClean="0"/>
              <a:t>Example </a:t>
            </a:r>
            <a:r>
              <a:rPr lang="en-US" dirty="0"/>
              <a:t>- Belgium: Males 27.5 vs Females 9.5 per </a:t>
            </a:r>
            <a:r>
              <a:rPr lang="en-US" dirty="0" smtClean="0"/>
              <a:t>100,000</a:t>
            </a:r>
          </a:p>
          <a:p>
            <a:r>
              <a:rPr lang="en-US" dirty="0" smtClean="0"/>
              <a:t>Example </a:t>
            </a:r>
            <a:r>
              <a:rPr lang="en-US" dirty="0"/>
              <a:t>- China: Males 9.7 vs Females 7.4 per 100,000 (smallest </a:t>
            </a:r>
            <a:r>
              <a:rPr lang="en-US" dirty="0" smtClean="0"/>
              <a:t>gap)</a:t>
            </a:r>
          </a:p>
          <a:p>
            <a:pPr marL="0" indent="0">
              <a:buNone/>
            </a:pPr>
            <a:r>
              <a:rPr lang="en-US" dirty="0" smtClean="0"/>
              <a:t>This </a:t>
            </a:r>
            <a:r>
              <a:rPr lang="en-US" dirty="0"/>
              <a:t>consistent pattern suggests gender-specific risk factors and potential differences in help-seeking behavior.</a:t>
            </a:r>
          </a:p>
        </p:txBody>
      </p:sp>
    </p:spTree>
    <p:extLst>
      <p:ext uri="{BB962C8B-B14F-4D97-AF65-F5344CB8AC3E}">
        <p14:creationId xmlns:p14="http://schemas.microsoft.com/office/powerpoint/2010/main" val="772875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FINDINGS</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3. Mental Health Workforce </a:t>
            </a:r>
            <a:r>
              <a:rPr lang="en-US" b="1" dirty="0" smtClean="0"/>
              <a:t>Distribution</a:t>
            </a:r>
          </a:p>
          <a:p>
            <a:pPr marL="0" indent="0">
              <a:buNone/>
            </a:pPr>
            <a:r>
              <a:rPr lang="en-US" dirty="0" smtClean="0"/>
              <a:t>Developed </a:t>
            </a:r>
            <a:r>
              <a:rPr lang="en-US" dirty="0"/>
              <a:t>nations have significantly higher mental health professional </a:t>
            </a:r>
            <a:r>
              <a:rPr lang="en-US" dirty="0" smtClean="0"/>
              <a:t>density:</a:t>
            </a:r>
          </a:p>
          <a:p>
            <a:pPr marL="0" indent="0">
              <a:buNone/>
            </a:pPr>
            <a:r>
              <a:rPr lang="en-US" b="1" dirty="0" smtClean="0"/>
              <a:t>High-Resource </a:t>
            </a:r>
            <a:r>
              <a:rPr lang="en-US" b="1" dirty="0"/>
              <a:t>Countries (per 100,000</a:t>
            </a:r>
            <a:r>
              <a:rPr lang="en-US" b="1" dirty="0" smtClean="0"/>
              <a:t>):</a:t>
            </a:r>
          </a:p>
          <a:p>
            <a:r>
              <a:rPr lang="en-US" dirty="0" smtClean="0"/>
              <a:t>Austria</a:t>
            </a:r>
            <a:r>
              <a:rPr lang="en-US" dirty="0"/>
              <a:t>: 20.5 psychiatrists, 45.5 </a:t>
            </a:r>
            <a:r>
              <a:rPr lang="en-US" dirty="0" smtClean="0"/>
              <a:t>nurses</a:t>
            </a:r>
          </a:p>
          <a:p>
            <a:r>
              <a:rPr lang="en-US" dirty="0" smtClean="0"/>
              <a:t>Belgium</a:t>
            </a:r>
            <a:r>
              <a:rPr lang="en-US" dirty="0"/>
              <a:t>: 22.7 psychiatrists, 50.0 </a:t>
            </a:r>
            <a:r>
              <a:rPr lang="en-US" dirty="0" smtClean="0"/>
              <a:t>nurses</a:t>
            </a:r>
          </a:p>
          <a:p>
            <a:r>
              <a:rPr lang="en-US" dirty="0" smtClean="0"/>
              <a:t>Canada</a:t>
            </a:r>
            <a:r>
              <a:rPr lang="en-US" dirty="0"/>
              <a:t>: 15.9 psychiatrists, 31.8 nurses </a:t>
            </a:r>
          </a:p>
          <a:p>
            <a:pPr marL="0" indent="0">
              <a:buNone/>
            </a:pPr>
            <a:r>
              <a:rPr lang="en-US" b="1" dirty="0" smtClean="0"/>
              <a:t>Low-Resource </a:t>
            </a:r>
            <a:r>
              <a:rPr lang="en-US" b="1" dirty="0"/>
              <a:t>Countries (per 100,000</a:t>
            </a:r>
            <a:r>
              <a:rPr lang="en-US" b="1" dirty="0" smtClean="0"/>
              <a:t>):</a:t>
            </a:r>
          </a:p>
          <a:p>
            <a:r>
              <a:rPr lang="en-US" dirty="0" smtClean="0"/>
              <a:t>Afghanistan</a:t>
            </a:r>
            <a:r>
              <a:rPr lang="en-US" dirty="0"/>
              <a:t>: 0.23 psychiatrists, 0.10 </a:t>
            </a:r>
            <a:r>
              <a:rPr lang="en-US" dirty="0" smtClean="0"/>
              <a:t>nurses</a:t>
            </a:r>
          </a:p>
          <a:p>
            <a:r>
              <a:rPr lang="en-US" dirty="0" smtClean="0"/>
              <a:t>Angola</a:t>
            </a:r>
            <a:r>
              <a:rPr lang="en-US" dirty="0"/>
              <a:t>: 0.06 psychiatrists, 0.66 </a:t>
            </a:r>
            <a:r>
              <a:rPr lang="en-US" dirty="0" smtClean="0"/>
              <a:t>nurses</a:t>
            </a:r>
          </a:p>
          <a:p>
            <a:r>
              <a:rPr lang="en-US" dirty="0" smtClean="0"/>
              <a:t>Albania</a:t>
            </a:r>
            <a:r>
              <a:rPr lang="en-US" dirty="0"/>
              <a:t>: 1.47 psychiatrists, 6.88 nurses</a:t>
            </a:r>
          </a:p>
        </p:txBody>
      </p:sp>
    </p:spTree>
    <p:extLst>
      <p:ext uri="{BB962C8B-B14F-4D97-AF65-F5344CB8AC3E}">
        <p14:creationId xmlns:p14="http://schemas.microsoft.com/office/powerpoint/2010/main" val="3105106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FINDINGS</a:t>
            </a:r>
            <a:endParaRPr lang="en-US" dirty="0"/>
          </a:p>
        </p:txBody>
      </p:sp>
      <p:sp>
        <p:nvSpPr>
          <p:cNvPr id="3" name="Content Placeholder 2"/>
          <p:cNvSpPr>
            <a:spLocks noGrp="1"/>
          </p:cNvSpPr>
          <p:nvPr>
            <p:ph idx="1"/>
          </p:nvPr>
        </p:nvSpPr>
        <p:spPr/>
        <p:txBody>
          <a:bodyPr/>
          <a:lstStyle/>
          <a:p>
            <a:pPr marL="0" indent="0">
              <a:buNone/>
            </a:pPr>
            <a:r>
              <a:rPr lang="en-US" b="1" dirty="0"/>
              <a:t>4. Mental Health Facilities </a:t>
            </a:r>
            <a:r>
              <a:rPr lang="en-US" b="1" dirty="0" smtClean="0"/>
              <a:t>Gap</a:t>
            </a:r>
          </a:p>
          <a:p>
            <a:pPr marL="0" indent="0">
              <a:buNone/>
            </a:pPr>
            <a:r>
              <a:rPr lang="en-US" dirty="0" smtClean="0"/>
              <a:t>Access </a:t>
            </a:r>
            <a:r>
              <a:rPr lang="en-US" dirty="0"/>
              <a:t>to mental health facilities varies </a:t>
            </a:r>
            <a:r>
              <a:rPr lang="en-US" dirty="0" smtClean="0"/>
              <a:t>dramatically:</a:t>
            </a:r>
          </a:p>
          <a:p>
            <a:r>
              <a:rPr lang="en-US" b="1" dirty="0" smtClean="0"/>
              <a:t>Developed </a:t>
            </a:r>
            <a:r>
              <a:rPr lang="en-US" b="1" dirty="0"/>
              <a:t>Nations: </a:t>
            </a:r>
            <a:r>
              <a:rPr lang="en-US" dirty="0"/>
              <a:t>Multiple facility types including mental hospitals, outpatient clinics, day treatment, and residential </a:t>
            </a:r>
            <a:r>
              <a:rPr lang="en-US" dirty="0" smtClean="0"/>
              <a:t>facilities</a:t>
            </a:r>
          </a:p>
          <a:p>
            <a:r>
              <a:rPr lang="en-US" b="1" dirty="0" smtClean="0"/>
              <a:t>Developing </a:t>
            </a:r>
            <a:r>
              <a:rPr lang="en-US" b="1" dirty="0"/>
              <a:t>Nations: </a:t>
            </a:r>
            <a:r>
              <a:rPr lang="en-US" dirty="0"/>
              <a:t>Often limited to basic health units or outpatient </a:t>
            </a:r>
            <a:r>
              <a:rPr lang="en-US" dirty="0" smtClean="0"/>
              <a:t>facilities</a:t>
            </a:r>
          </a:p>
          <a:p>
            <a:r>
              <a:rPr lang="en-US" b="1" dirty="0" smtClean="0"/>
              <a:t>Resource </a:t>
            </a:r>
            <a:r>
              <a:rPr lang="en-US" b="1" dirty="0"/>
              <a:t>Constraint: </a:t>
            </a:r>
            <a:r>
              <a:rPr lang="en-US" dirty="0"/>
              <a:t>Many countries lack specialized residential or day treatment facilities</a:t>
            </a:r>
          </a:p>
        </p:txBody>
      </p:sp>
    </p:spTree>
    <p:extLst>
      <p:ext uri="{BB962C8B-B14F-4D97-AF65-F5344CB8AC3E}">
        <p14:creationId xmlns:p14="http://schemas.microsoft.com/office/powerpoint/2010/main" val="2331622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REGIONAL INSIGHTS</a:t>
            </a:r>
            <a:endParaRPr lang="en-US" dirty="0"/>
          </a:p>
        </p:txBody>
      </p:sp>
      <p:sp>
        <p:nvSpPr>
          <p:cNvPr id="3" name="Content Placeholder 2"/>
          <p:cNvSpPr>
            <a:spLocks noGrp="1"/>
          </p:cNvSpPr>
          <p:nvPr>
            <p:ph idx="1"/>
          </p:nvPr>
        </p:nvSpPr>
        <p:spPr>
          <a:xfrm>
            <a:off x="2592925" y="1545771"/>
            <a:ext cx="8915400" cy="4541520"/>
          </a:xfrm>
        </p:spPr>
        <p:txBody>
          <a:bodyPr>
            <a:normAutofit fontScale="70000" lnSpcReduction="20000"/>
          </a:bodyPr>
          <a:lstStyle/>
          <a:p>
            <a:pPr marL="0" indent="0">
              <a:buNone/>
            </a:pPr>
            <a:r>
              <a:rPr lang="en-US" b="1" dirty="0"/>
              <a:t>Eastern Europe &amp; Central </a:t>
            </a:r>
            <a:r>
              <a:rPr lang="en-US" b="1" dirty="0" smtClean="0"/>
              <a:t>Asia</a:t>
            </a:r>
          </a:p>
          <a:p>
            <a:r>
              <a:rPr lang="en-US" dirty="0" smtClean="0"/>
              <a:t>Highest </a:t>
            </a:r>
            <a:r>
              <a:rPr lang="en-US" dirty="0"/>
              <a:t>suicide rates globally (Lithuania 28.2, Hungary </a:t>
            </a:r>
            <a:r>
              <a:rPr lang="en-US" dirty="0" smtClean="0"/>
              <a:t>24.3)</a:t>
            </a:r>
          </a:p>
          <a:p>
            <a:r>
              <a:rPr lang="en-US" dirty="0" smtClean="0"/>
              <a:t>Moderate </a:t>
            </a:r>
            <a:r>
              <a:rPr lang="en-US" dirty="0"/>
              <a:t>mental health workforce availability </a:t>
            </a:r>
            <a:endParaRPr lang="en-US" dirty="0" smtClean="0"/>
          </a:p>
          <a:p>
            <a:r>
              <a:rPr lang="en-US" dirty="0" smtClean="0"/>
              <a:t>Potential </a:t>
            </a:r>
            <a:r>
              <a:rPr lang="en-US" dirty="0"/>
              <a:t>factors: Economic transition, social disruption, alcohol use </a:t>
            </a:r>
            <a:endParaRPr lang="en-US" dirty="0" smtClean="0"/>
          </a:p>
          <a:p>
            <a:pPr marL="0" indent="0">
              <a:buNone/>
            </a:pPr>
            <a:r>
              <a:rPr lang="en-US" b="1" dirty="0" smtClean="0"/>
              <a:t>East </a:t>
            </a:r>
            <a:r>
              <a:rPr lang="en-US" b="1" dirty="0"/>
              <a:t>Asia </a:t>
            </a:r>
            <a:endParaRPr lang="en-US" b="1" dirty="0" smtClean="0"/>
          </a:p>
          <a:p>
            <a:r>
              <a:rPr lang="en-US" dirty="0" smtClean="0"/>
              <a:t>South </a:t>
            </a:r>
            <a:r>
              <a:rPr lang="en-US" dirty="0"/>
              <a:t>Korea (24.6) and Japan (18.5) show elevated rates despite developed economy status </a:t>
            </a:r>
            <a:endParaRPr lang="en-US" dirty="0" smtClean="0"/>
          </a:p>
          <a:p>
            <a:r>
              <a:rPr lang="en-US" dirty="0" smtClean="0"/>
              <a:t>Possible </a:t>
            </a:r>
            <a:r>
              <a:rPr lang="en-US" dirty="0"/>
              <a:t>factors: Work-related stress, social pressures, cultural attitudes toward mental </a:t>
            </a:r>
            <a:r>
              <a:rPr lang="en-US" dirty="0" smtClean="0"/>
              <a:t>health</a:t>
            </a:r>
          </a:p>
          <a:p>
            <a:r>
              <a:rPr lang="en-US" dirty="0" smtClean="0"/>
              <a:t>Relatively </a:t>
            </a:r>
            <a:r>
              <a:rPr lang="en-US" dirty="0"/>
              <a:t>strong mental health infrastructure </a:t>
            </a:r>
            <a:endParaRPr lang="en-US" dirty="0" smtClean="0"/>
          </a:p>
          <a:p>
            <a:pPr marL="0" indent="0">
              <a:buNone/>
            </a:pPr>
            <a:r>
              <a:rPr lang="en-US" b="1" dirty="0" smtClean="0"/>
              <a:t>Sub-Saharan Africa</a:t>
            </a:r>
          </a:p>
          <a:p>
            <a:r>
              <a:rPr lang="en-US" dirty="0" smtClean="0"/>
              <a:t>Lesotho </a:t>
            </a:r>
            <a:r>
              <a:rPr lang="en-US" dirty="0"/>
              <a:t>(26.5) shows high rates despite limited </a:t>
            </a:r>
            <a:r>
              <a:rPr lang="en-US" dirty="0" smtClean="0"/>
              <a:t>resources</a:t>
            </a:r>
          </a:p>
          <a:p>
            <a:r>
              <a:rPr lang="en-US" dirty="0" smtClean="0"/>
              <a:t>Severe </a:t>
            </a:r>
            <a:r>
              <a:rPr lang="en-US" dirty="0"/>
              <a:t>shortage of mental health </a:t>
            </a:r>
            <a:r>
              <a:rPr lang="en-US" dirty="0" smtClean="0"/>
              <a:t>professionals</a:t>
            </a:r>
          </a:p>
          <a:p>
            <a:r>
              <a:rPr lang="en-US" dirty="0" smtClean="0"/>
              <a:t>Limited </a:t>
            </a:r>
            <a:r>
              <a:rPr lang="en-US" dirty="0"/>
              <a:t>facility infrastructure </a:t>
            </a:r>
            <a:endParaRPr lang="en-US" dirty="0" smtClean="0"/>
          </a:p>
          <a:p>
            <a:pPr marL="0" indent="0">
              <a:buNone/>
            </a:pPr>
            <a:r>
              <a:rPr lang="en-US" b="1" dirty="0" smtClean="0"/>
              <a:t>Western Europe</a:t>
            </a:r>
          </a:p>
          <a:p>
            <a:r>
              <a:rPr lang="en-US" dirty="0" smtClean="0"/>
              <a:t>Belgium </a:t>
            </a:r>
            <a:r>
              <a:rPr lang="en-US" dirty="0"/>
              <a:t>(18.0), France (16.4), Austria (15.9) show elevated </a:t>
            </a:r>
            <a:r>
              <a:rPr lang="en-US" dirty="0" smtClean="0"/>
              <a:t>rates</a:t>
            </a:r>
          </a:p>
          <a:p>
            <a:r>
              <a:rPr lang="en-US" dirty="0" smtClean="0"/>
              <a:t>Strongest </a:t>
            </a:r>
            <a:r>
              <a:rPr lang="en-US" dirty="0"/>
              <a:t>mental health infrastructure and </a:t>
            </a:r>
            <a:r>
              <a:rPr lang="en-US" dirty="0" smtClean="0"/>
              <a:t>workforce</a:t>
            </a:r>
          </a:p>
          <a:p>
            <a:r>
              <a:rPr lang="en-US" dirty="0" smtClean="0"/>
              <a:t>Possible </a:t>
            </a:r>
            <a:r>
              <a:rPr lang="en-US" dirty="0"/>
              <a:t>factors: Aging population, social isolation</a:t>
            </a:r>
          </a:p>
        </p:txBody>
      </p:sp>
    </p:spTree>
    <p:extLst>
      <p:ext uri="{BB962C8B-B14F-4D97-AF65-F5344CB8AC3E}">
        <p14:creationId xmlns:p14="http://schemas.microsoft.com/office/powerpoint/2010/main" val="1955422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RESOURCE-OUTCOME CORRELATION</a:t>
            </a:r>
            <a:endParaRPr lang="en-US" dirty="0"/>
          </a:p>
        </p:txBody>
      </p:sp>
      <p:sp>
        <p:nvSpPr>
          <p:cNvPr id="3" name="Content Placeholder 2"/>
          <p:cNvSpPr>
            <a:spLocks noGrp="1"/>
          </p:cNvSpPr>
          <p:nvPr>
            <p:ph idx="1"/>
          </p:nvPr>
        </p:nvSpPr>
        <p:spPr/>
        <p:txBody>
          <a:bodyPr/>
          <a:lstStyle/>
          <a:p>
            <a:pPr marL="0" indent="0">
              <a:buNone/>
            </a:pPr>
            <a:r>
              <a:rPr lang="en-US" b="1" dirty="0" smtClean="0"/>
              <a:t>Observation</a:t>
            </a:r>
          </a:p>
          <a:p>
            <a:pPr marL="0" indent="0">
              <a:buNone/>
            </a:pPr>
            <a:r>
              <a:rPr lang="en-US" dirty="0" smtClean="0"/>
              <a:t>Countries </a:t>
            </a:r>
            <a:r>
              <a:rPr lang="en-US" dirty="0"/>
              <a:t>with higher mental health resource availability do not necessarily have lower suicide rates. This suggests: </a:t>
            </a:r>
            <a:endParaRPr lang="en-US" dirty="0" smtClean="0"/>
          </a:p>
          <a:p>
            <a:r>
              <a:rPr lang="en-US" b="1" dirty="0" smtClean="0"/>
              <a:t>1</a:t>
            </a:r>
            <a:r>
              <a:rPr lang="en-US" b="1" dirty="0"/>
              <a:t>. Resource Distribution:</a:t>
            </a:r>
            <a:r>
              <a:rPr lang="en-US" dirty="0"/>
              <a:t> Availability doesn’t guarantee accessibility or quality of care </a:t>
            </a:r>
            <a:endParaRPr lang="en-US" dirty="0" smtClean="0"/>
          </a:p>
          <a:p>
            <a:r>
              <a:rPr lang="en-US" b="1" dirty="0" smtClean="0"/>
              <a:t>2</a:t>
            </a:r>
            <a:r>
              <a:rPr lang="en-US" b="1" dirty="0"/>
              <a:t>. Cultural Factors:</a:t>
            </a:r>
            <a:r>
              <a:rPr lang="en-US" dirty="0"/>
              <a:t> Stigma, help-seeking behavior, and cultural attitudes significantly influence outcomes </a:t>
            </a:r>
            <a:endParaRPr lang="en-US" dirty="0" smtClean="0"/>
          </a:p>
          <a:p>
            <a:r>
              <a:rPr lang="en-US" b="1" dirty="0" smtClean="0"/>
              <a:t>3</a:t>
            </a:r>
            <a:r>
              <a:rPr lang="en-US" b="1" dirty="0"/>
              <a:t>. Socioeconomic Factors:</a:t>
            </a:r>
            <a:r>
              <a:rPr lang="en-US" dirty="0"/>
              <a:t> Economic development, employment, and social cohesion play crucial roles </a:t>
            </a:r>
            <a:endParaRPr lang="en-US" dirty="0" smtClean="0"/>
          </a:p>
          <a:p>
            <a:r>
              <a:rPr lang="en-US" b="1" dirty="0" smtClean="0"/>
              <a:t>4</a:t>
            </a:r>
            <a:r>
              <a:rPr lang="en-US" b="1" dirty="0"/>
              <a:t>. Demographic Factors:</a:t>
            </a:r>
            <a:r>
              <a:rPr lang="en-US" dirty="0"/>
              <a:t> Age structure and gender composition affect population level rates</a:t>
            </a:r>
          </a:p>
        </p:txBody>
      </p:sp>
    </p:spTree>
    <p:extLst>
      <p:ext uri="{BB962C8B-B14F-4D97-AF65-F5344CB8AC3E}">
        <p14:creationId xmlns:p14="http://schemas.microsoft.com/office/powerpoint/2010/main" val="4175305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RECOMMENDATIONS</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b="1" dirty="0"/>
              <a:t>Immediate Actions </a:t>
            </a:r>
            <a:endParaRPr lang="en-US" b="1" dirty="0" smtClean="0"/>
          </a:p>
          <a:p>
            <a:r>
              <a:rPr lang="en-US" b="1" dirty="0" smtClean="0"/>
              <a:t>1</a:t>
            </a:r>
            <a:r>
              <a:rPr lang="en-US" b="1" dirty="0"/>
              <a:t>. Targeted Interventions: </a:t>
            </a:r>
            <a:r>
              <a:rPr lang="en-US" dirty="0"/>
              <a:t>Focus on high-risk age groups (20-29 and 80+) </a:t>
            </a:r>
            <a:endParaRPr lang="en-US" dirty="0" smtClean="0"/>
          </a:p>
          <a:p>
            <a:r>
              <a:rPr lang="en-US" b="1" dirty="0" smtClean="0"/>
              <a:t>2</a:t>
            </a:r>
            <a:r>
              <a:rPr lang="en-US" b="1" dirty="0"/>
              <a:t>. Gender-Specific Programs: </a:t>
            </a:r>
            <a:r>
              <a:rPr lang="en-US" dirty="0"/>
              <a:t>Develop male-focused mental health awareness and intervention programs </a:t>
            </a:r>
            <a:endParaRPr lang="en-US" dirty="0" smtClean="0"/>
          </a:p>
          <a:p>
            <a:r>
              <a:rPr lang="en-US" b="1" dirty="0" smtClean="0"/>
              <a:t>3</a:t>
            </a:r>
            <a:r>
              <a:rPr lang="en-US" b="1" dirty="0"/>
              <a:t>. Workforce Development:</a:t>
            </a:r>
            <a:r>
              <a:rPr lang="en-US" dirty="0"/>
              <a:t> Increase mental health professional training in low resource countries </a:t>
            </a:r>
            <a:endParaRPr lang="en-US" dirty="0" smtClean="0"/>
          </a:p>
          <a:p>
            <a:pPr marL="0" indent="0">
              <a:buNone/>
            </a:pPr>
            <a:endParaRPr lang="en-US" dirty="0" smtClean="0"/>
          </a:p>
          <a:p>
            <a:pPr marL="0" indent="0">
              <a:buNone/>
            </a:pPr>
            <a:r>
              <a:rPr lang="en-US" b="1" dirty="0" smtClean="0"/>
              <a:t>Long-term </a:t>
            </a:r>
            <a:r>
              <a:rPr lang="en-US" b="1" dirty="0"/>
              <a:t>Strategies </a:t>
            </a:r>
            <a:endParaRPr lang="en-US" b="1" dirty="0" smtClean="0"/>
          </a:p>
          <a:p>
            <a:r>
              <a:rPr lang="en-US" b="1" dirty="0" smtClean="0"/>
              <a:t>1</a:t>
            </a:r>
            <a:r>
              <a:rPr lang="en-US" b="1" dirty="0"/>
              <a:t>. Infrastructure Investment: </a:t>
            </a:r>
            <a:r>
              <a:rPr lang="en-US" dirty="0"/>
              <a:t>Build mental health facilities in underserved regions </a:t>
            </a:r>
            <a:endParaRPr lang="en-US" dirty="0" smtClean="0"/>
          </a:p>
          <a:p>
            <a:r>
              <a:rPr lang="en-US" b="1" dirty="0" smtClean="0"/>
              <a:t>2</a:t>
            </a:r>
            <a:r>
              <a:rPr lang="en-US" b="1" dirty="0"/>
              <a:t>. Community-Based Care: </a:t>
            </a:r>
            <a:r>
              <a:rPr lang="en-US" dirty="0"/>
              <a:t>Develop accessible, culturally appropriate mental health services </a:t>
            </a:r>
            <a:endParaRPr lang="en-US" dirty="0" smtClean="0"/>
          </a:p>
          <a:p>
            <a:r>
              <a:rPr lang="en-US" b="1" dirty="0" smtClean="0"/>
              <a:t>3</a:t>
            </a:r>
            <a:r>
              <a:rPr lang="en-US" b="1" dirty="0"/>
              <a:t>. Prevention Programs:</a:t>
            </a:r>
            <a:r>
              <a:rPr lang="en-US" dirty="0"/>
              <a:t> Implement suicide prevention initiatives targeting vulnerable populations </a:t>
            </a:r>
            <a:endParaRPr lang="en-US" dirty="0" smtClean="0"/>
          </a:p>
          <a:p>
            <a:r>
              <a:rPr lang="en-US" b="1" dirty="0" smtClean="0"/>
              <a:t>4</a:t>
            </a:r>
            <a:r>
              <a:rPr lang="en-US" b="1" dirty="0"/>
              <a:t>. Data Collection:</a:t>
            </a:r>
            <a:r>
              <a:rPr lang="en-US" dirty="0"/>
              <a:t> Improve data quality and completeness for better monitoring</a:t>
            </a:r>
          </a:p>
        </p:txBody>
      </p:sp>
    </p:spTree>
    <p:extLst>
      <p:ext uri="{BB962C8B-B14F-4D97-AF65-F5344CB8AC3E}">
        <p14:creationId xmlns:p14="http://schemas.microsoft.com/office/powerpoint/2010/main" val="1047811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Content Placeholder 2"/>
          <p:cNvSpPr>
            <a:spLocks noGrp="1"/>
          </p:cNvSpPr>
          <p:nvPr>
            <p:ph idx="1"/>
          </p:nvPr>
        </p:nvSpPr>
        <p:spPr/>
        <p:txBody>
          <a:bodyPr>
            <a:normAutofit fontScale="92500"/>
          </a:bodyPr>
          <a:lstStyle/>
          <a:p>
            <a:pPr marL="0" indent="0">
              <a:buNone/>
            </a:pPr>
            <a:r>
              <a:rPr lang="en-US" dirty="0"/>
              <a:t>The global mental health crisis requires a multifaceted approach addressing both resource availability and cultural factors. While developed nations have stronger infrastructure, suicide rates remain elevated, indicating that access to services alone is insufficient. Comprehensive strategies must address socioeconomic factors, cultural attitudes, and targeted interventions for high-risk </a:t>
            </a:r>
            <a:r>
              <a:rPr lang="en-US" dirty="0" smtClean="0"/>
              <a:t>populations.</a:t>
            </a:r>
          </a:p>
          <a:p>
            <a:pPr marL="0" indent="0">
              <a:buNone/>
            </a:pPr>
            <a:r>
              <a:rPr lang="en-US" dirty="0" smtClean="0"/>
              <a:t>The </a:t>
            </a:r>
            <a:r>
              <a:rPr lang="en-US" dirty="0"/>
              <a:t>data underscores the urgent need for: </a:t>
            </a:r>
            <a:endParaRPr lang="en-US" dirty="0" smtClean="0"/>
          </a:p>
          <a:p>
            <a:r>
              <a:rPr lang="en-US" dirty="0" smtClean="0"/>
              <a:t>Equitable </a:t>
            </a:r>
            <a:r>
              <a:rPr lang="en-US" dirty="0"/>
              <a:t>distribution of mental health resources </a:t>
            </a:r>
            <a:endParaRPr lang="en-US" dirty="0" smtClean="0"/>
          </a:p>
          <a:p>
            <a:r>
              <a:rPr lang="en-US" dirty="0" smtClean="0"/>
              <a:t>Culturally </a:t>
            </a:r>
            <a:r>
              <a:rPr lang="en-US" dirty="0"/>
              <a:t>tailored interventions </a:t>
            </a:r>
            <a:endParaRPr lang="en-US" dirty="0" smtClean="0"/>
          </a:p>
          <a:p>
            <a:r>
              <a:rPr lang="en-US" dirty="0" smtClean="0"/>
              <a:t>Special </a:t>
            </a:r>
            <a:r>
              <a:rPr lang="en-US" dirty="0"/>
              <a:t>focus on elderly and young adult populations </a:t>
            </a:r>
            <a:endParaRPr lang="en-US" dirty="0" smtClean="0"/>
          </a:p>
          <a:p>
            <a:r>
              <a:rPr lang="en-US" dirty="0" smtClean="0"/>
              <a:t>Gender-specific </a:t>
            </a:r>
            <a:r>
              <a:rPr lang="en-US" dirty="0"/>
              <a:t>mental health programs </a:t>
            </a:r>
            <a:endParaRPr lang="en-US" dirty="0" smtClean="0"/>
          </a:p>
          <a:p>
            <a:r>
              <a:rPr lang="en-US" dirty="0" smtClean="0"/>
              <a:t>Integration </a:t>
            </a:r>
            <a:r>
              <a:rPr lang="en-US" dirty="0"/>
              <a:t>of mental health into primary care systems</a:t>
            </a:r>
          </a:p>
        </p:txBody>
      </p:sp>
    </p:spTree>
    <p:extLst>
      <p:ext uri="{BB962C8B-B14F-4D97-AF65-F5344CB8AC3E}">
        <p14:creationId xmlns:p14="http://schemas.microsoft.com/office/powerpoint/2010/main" val="296291592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1364</TotalTime>
  <Words>789</Words>
  <Application>Microsoft Office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Wisp</vt:lpstr>
      <vt:lpstr>GLOBAL MENTAL HEALTH CRISIS 2016</vt:lpstr>
      <vt:lpstr>EXECUTIVE SUMMARY</vt:lpstr>
      <vt:lpstr>PowerPoint Presentation</vt:lpstr>
      <vt:lpstr>KEY FINDINGS</vt:lpstr>
      <vt:lpstr>KEY FINDINGS</vt:lpstr>
      <vt:lpstr>KEY FINDINGS</vt:lpstr>
      <vt:lpstr>KEY FINDINGS</vt:lpstr>
      <vt:lpstr>REGIONAL INSIGHTS</vt:lpstr>
      <vt:lpstr>RESOURCE-OUTCOME CORRELATION</vt:lpstr>
      <vt:lpstr>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MENTAL HEALTH CRISIS</dc:title>
  <dc:creator>Joseph</dc:creator>
  <cp:lastModifiedBy>Joseph</cp:lastModifiedBy>
  <cp:revision>8</cp:revision>
  <dcterms:created xsi:type="dcterms:W3CDTF">2026-05-07T20:04:17Z</dcterms:created>
  <dcterms:modified xsi:type="dcterms:W3CDTF">2026-05-08T18:48:20Z</dcterms:modified>
</cp:coreProperties>
</file>